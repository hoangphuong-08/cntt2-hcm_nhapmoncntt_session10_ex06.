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51241D-F80F-7424-F91D-116E133B8487}" v="181" dt="2026-10-26T15:33:49.8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18700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>
                <a:ea typeface="+mj-lt"/>
                <a:cs typeface="+mj-lt"/>
              </a:rPr>
              <a:t>SMART-HOME</a:t>
            </a:r>
            <a:endParaRPr lang="en-US" sz="4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81206"/>
            <a:ext cx="9144000" cy="19427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Sàn </a:t>
            </a:r>
            <a:r>
              <a:rPr lang="en-US" dirty="0" err="1">
                <a:ea typeface="+mn-lt"/>
                <a:cs typeface="+mn-lt"/>
              </a:rPr>
              <a:t>đấu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giá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bất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động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sản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minh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bạch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bằng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công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nghệ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số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E6D329-1D64-5735-0367-5EF8A7A253D0}"/>
              </a:ext>
            </a:extLst>
          </p:cNvPr>
          <p:cNvSpPr txBox="1"/>
          <p:nvPr/>
        </p:nvSpPr>
        <p:spPr>
          <a:xfrm>
            <a:off x="157597" y="666876"/>
            <a:ext cx="11888535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5400" dirty="0">
              <a:solidFill>
                <a:schemeClr val="accent2"/>
              </a:solidFill>
            </a:endParaRPr>
          </a:p>
          <a:p>
            <a:endParaRPr lang="en-US" sz="5400" dirty="0">
              <a:solidFill>
                <a:schemeClr val="accent2"/>
              </a:solidFill>
            </a:endParaRPr>
          </a:p>
          <a:p>
            <a:pPr algn="ctr"/>
            <a:r>
              <a:rPr lang="en-US" sz="9600" dirty="0">
                <a:solidFill>
                  <a:schemeClr val="accent2"/>
                </a:solidFill>
              </a:rPr>
              <a:t>85%</a:t>
            </a:r>
            <a:r>
              <a:rPr lang="en-US" sz="2800" dirty="0">
                <a:solidFill>
                  <a:schemeClr val="accent2"/>
                </a:solidFill>
              </a:rPr>
              <a:t>   </a:t>
            </a:r>
            <a:r>
              <a:rPr lang="en-US" sz="2800" b="1" dirty="0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Giao </a:t>
            </a:r>
            <a:r>
              <a:rPr lang="en-US" sz="2800" b="1" dirty="0" err="1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dịch</a:t>
            </a:r>
            <a:r>
              <a:rPr lang="en-US" sz="2800" b="1" dirty="0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en-US" sz="2800" b="1" dirty="0" err="1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truyền</a:t>
            </a:r>
            <a:r>
              <a:rPr lang="en-US" sz="2800" b="1" dirty="0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en-US" sz="2800" b="1" dirty="0" err="1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thống</a:t>
            </a:r>
            <a:r>
              <a:rPr lang="en-US" sz="2800" b="1" dirty="0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en-US" sz="2800" b="1" dirty="0" err="1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đối</a:t>
            </a:r>
            <a:r>
              <a:rPr lang="en-US" sz="2800" b="1" dirty="0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en-US" sz="2800" b="1" dirty="0" err="1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mặt</a:t>
            </a:r>
            <a:r>
              <a:rPr lang="en-US" sz="2800" b="1" dirty="0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en-US" sz="2800" b="1" dirty="0" err="1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rủi</a:t>
            </a:r>
            <a:r>
              <a:rPr lang="en-US" sz="2800" b="1" dirty="0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en-US" sz="2800" b="1" dirty="0" err="1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ro</a:t>
            </a:r>
            <a:r>
              <a:rPr lang="en-US" sz="2800" b="1" dirty="0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en-US" sz="2800" b="1" dirty="0" err="1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thổi</a:t>
            </a:r>
            <a:r>
              <a:rPr lang="en-US" sz="2800" b="1" dirty="0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en-US" sz="2800" b="1" dirty="0" err="1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giá</a:t>
            </a:r>
            <a:r>
              <a:rPr lang="en-US" sz="2800" b="1" dirty="0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 </a:t>
            </a:r>
            <a:endParaRPr lang="en-US" sz="2800">
              <a:solidFill>
                <a:schemeClr val="accent2">
                  <a:lumMod val="76000"/>
                </a:schemeClr>
              </a:solidFill>
            </a:endParaRPr>
          </a:p>
          <a:p>
            <a:pPr algn="ctr"/>
            <a:r>
              <a:rPr lang="en-US" sz="2800" b="1" dirty="0" err="1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và</a:t>
            </a:r>
            <a:r>
              <a:rPr lang="en-US" sz="2800" b="1" dirty="0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en-US" sz="2800" b="1" dirty="0" err="1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quy</a:t>
            </a:r>
            <a:r>
              <a:rPr lang="en-US" sz="2800" b="1" dirty="0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 </a:t>
            </a:r>
            <a:r>
              <a:rPr lang="en-US" sz="2800" b="1" dirty="0" err="1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hoạch</a:t>
            </a:r>
            <a:r>
              <a:rPr lang="en-US" sz="2800" b="1" dirty="0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 </a:t>
            </a:r>
            <a:r>
              <a:rPr lang="en-US" sz="2800" b="1" dirty="0" err="1">
                <a:solidFill>
                  <a:schemeClr val="accent2">
                    <a:lumMod val="76000"/>
                  </a:schemeClr>
                </a:solidFill>
                <a:highlight>
                  <a:srgbClr val="FFFFFF"/>
                </a:highlight>
              </a:rPr>
              <a:t>ảo</a:t>
            </a:r>
            <a:endParaRPr lang="en-US" sz="2800" dirty="0" err="1">
              <a:solidFill>
                <a:schemeClr val="accent2">
                  <a:lumMod val="76000"/>
                </a:schemeClr>
              </a:solidFill>
            </a:endParaRPr>
          </a:p>
          <a:p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Người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mua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chịu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thiệt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hại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lớn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do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thiếu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công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cụ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định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giá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công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khai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và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chứng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thực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pháp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lý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độc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lập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trước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khi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xuống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tiền</a:t>
            </a:r>
            <a:r>
              <a:rPr lang="en-US" sz="2800" dirty="0">
                <a:solidFill>
                  <a:srgbClr val="475569"/>
                </a:solidFill>
                <a:highlight>
                  <a:srgbClr val="FFFFFF"/>
                </a:highlight>
                <a:ea typeface="+mn-lt"/>
                <a:cs typeface="+mn-lt"/>
              </a:rPr>
              <a:t>.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947515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231D9-F139-77D4-400A-F7A2195F7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b="1" dirty="0">
                <a:solidFill>
                  <a:schemeClr val="accent1">
                    <a:lumMod val="49000"/>
                  </a:schemeClr>
                </a:solidFill>
                <a:highlight>
                  <a:srgbClr val="FFFFFF"/>
                </a:highlight>
              </a:rPr>
              <a:t>Sàn Đấu Giá Trực Tuyến Thời Gian </a:t>
            </a:r>
            <a:r>
              <a:rPr lang="en-US" sz="3000" b="1" dirty="0" err="1">
                <a:solidFill>
                  <a:schemeClr val="accent1">
                    <a:lumMod val="49000"/>
                  </a:schemeClr>
                </a:solidFill>
                <a:highlight>
                  <a:srgbClr val="FFFFFF"/>
                </a:highlight>
              </a:rPr>
              <a:t>Thực</a:t>
            </a:r>
            <a:endParaRPr lang="en-US">
              <a:solidFill>
                <a:schemeClr val="accent1">
                  <a:lumMod val="49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612DA3-12EE-29A2-2672-79EC20FA6561}"/>
              </a:ext>
            </a:extLst>
          </p:cNvPr>
          <p:cNvSpPr txBox="1"/>
          <p:nvPr/>
        </p:nvSpPr>
        <p:spPr>
          <a:xfrm>
            <a:off x="582082" y="1698625"/>
            <a:ext cx="3603625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900" b="1">
                <a:solidFill>
                  <a:srgbClr val="0284C7"/>
                </a:solidFill>
                <a:highlight>
                  <a:srgbClr val="F8FAFC"/>
                </a:highlight>
                <a:ea typeface="+mn-lt"/>
                <a:cs typeface="+mn-lt"/>
              </a:rPr>
              <a:t>01. </a:t>
            </a:r>
            <a:r>
              <a:rPr lang="en-US" sz="1900" b="1" err="1">
                <a:solidFill>
                  <a:srgbClr val="0284C7"/>
                </a:solidFill>
                <a:highlight>
                  <a:srgbClr val="F8FAFC"/>
                </a:highlight>
                <a:ea typeface="+mn-lt"/>
                <a:cs typeface="+mn-lt"/>
              </a:rPr>
              <a:t>eKYC</a:t>
            </a:r>
            <a:r>
              <a:rPr lang="en-US" sz="1900" b="1" dirty="0">
                <a:solidFill>
                  <a:srgbClr val="0284C7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900" b="1">
                <a:solidFill>
                  <a:srgbClr val="0284C7"/>
                </a:solidFill>
                <a:highlight>
                  <a:srgbClr val="F8FAFC"/>
                </a:highlight>
                <a:ea typeface="+mn-lt"/>
                <a:cs typeface="+mn-lt"/>
              </a:rPr>
              <a:t>&amp; </a:t>
            </a:r>
            <a:r>
              <a:rPr lang="en-US" sz="1900" b="1" err="1">
                <a:solidFill>
                  <a:srgbClr val="0284C7"/>
                </a:solidFill>
                <a:highlight>
                  <a:srgbClr val="F8FAFC"/>
                </a:highlight>
                <a:ea typeface="+mn-lt"/>
                <a:cs typeface="+mn-lt"/>
              </a:rPr>
              <a:t>Ký</a:t>
            </a:r>
            <a:r>
              <a:rPr lang="en-US" sz="1900" b="1" dirty="0">
                <a:solidFill>
                  <a:srgbClr val="0284C7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900" b="1" err="1">
                <a:solidFill>
                  <a:srgbClr val="0284C7"/>
                </a:solidFill>
                <a:highlight>
                  <a:srgbClr val="F8FAFC"/>
                </a:highlight>
                <a:ea typeface="+mn-lt"/>
                <a:cs typeface="+mn-lt"/>
              </a:rPr>
              <a:t>Quỹ</a:t>
            </a:r>
            <a:endParaRPr lang="en-US" sz="1900"/>
          </a:p>
          <a:p>
            <a:r>
              <a:rPr lang="en-US" sz="190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Xác</a:t>
            </a:r>
            <a:r>
              <a:rPr lang="en-US" sz="19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90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minh</a:t>
            </a:r>
            <a:r>
              <a:rPr lang="en-US" sz="19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90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danh</a:t>
            </a:r>
            <a:r>
              <a:rPr lang="en-US" sz="19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90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tính</a:t>
            </a:r>
            <a:r>
              <a:rPr lang="en-US" sz="19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90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người</a:t>
            </a:r>
            <a:r>
              <a:rPr lang="en-US" sz="19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90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mua</a:t>
            </a:r>
            <a:r>
              <a:rPr lang="en-US" sz="19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90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và</a:t>
            </a:r>
            <a:r>
              <a:rPr lang="en-US" sz="19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90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ký</a:t>
            </a:r>
            <a:r>
              <a:rPr lang="en-US" sz="19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90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quỹ</a:t>
            </a:r>
            <a:r>
              <a:rPr lang="en-US" sz="19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90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ngân</a:t>
            </a:r>
            <a:r>
              <a:rPr lang="en-US" sz="19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90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hàng</a:t>
            </a:r>
            <a:r>
              <a:rPr lang="en-US" sz="19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90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bắt</a:t>
            </a:r>
            <a:r>
              <a:rPr lang="en-US" sz="19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90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buộc</a:t>
            </a:r>
            <a:endParaRPr lang="en-US" sz="1900"/>
          </a:p>
          <a:p>
            <a:br>
              <a:rPr lang="en-US" dirty="0"/>
            </a:br>
            <a:endParaRPr lang="en-US" sz="27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6924D0-D5C8-8654-B181-FD5CAC4F84BD}"/>
              </a:ext>
            </a:extLst>
          </p:cNvPr>
          <p:cNvSpPr txBox="1"/>
          <p:nvPr/>
        </p:nvSpPr>
        <p:spPr>
          <a:xfrm>
            <a:off x="4667250" y="1666875"/>
            <a:ext cx="3302000" cy="13388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 b="1" dirty="0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02. </a:t>
            </a:r>
            <a:r>
              <a:rPr lang="en-US" sz="1700" b="1" dirty="0" err="1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Đấu</a:t>
            </a:r>
            <a:r>
              <a:rPr lang="en-US" sz="1700" b="1" dirty="0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 </a:t>
            </a:r>
            <a:r>
              <a:rPr lang="en-US" sz="1700" b="1" dirty="0" err="1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Giá</a:t>
            </a:r>
            <a:r>
              <a:rPr lang="en-US" sz="1700" b="1" dirty="0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 &lt;200ms</a:t>
            </a:r>
            <a:endParaRPr lang="en-US" dirty="0"/>
          </a:p>
          <a:p>
            <a:r>
              <a:rPr lang="en-US" sz="1400" dirty="0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Khớp </a:t>
            </a:r>
            <a:r>
              <a:rPr lang="en-US" sz="1400" dirty="0" err="1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lệnh</a:t>
            </a:r>
            <a:r>
              <a:rPr lang="en-US" sz="1400" dirty="0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thời</a:t>
            </a:r>
            <a:r>
              <a:rPr lang="en-US" sz="1400" dirty="0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gian</a:t>
            </a:r>
            <a:r>
              <a:rPr lang="en-US" sz="1400" dirty="0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thực</a:t>
            </a:r>
            <a:r>
              <a:rPr lang="en-US" sz="1400" dirty="0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và</a:t>
            </a:r>
            <a:r>
              <a:rPr lang="en-US" sz="1400" dirty="0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tự</a:t>
            </a:r>
            <a:r>
              <a:rPr lang="en-US" sz="1400" dirty="0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động</a:t>
            </a:r>
            <a:r>
              <a:rPr lang="en-US" sz="1400" dirty="0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gia</a:t>
            </a:r>
            <a:r>
              <a:rPr lang="en-US" sz="1400" dirty="0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hạn</a:t>
            </a:r>
            <a:r>
              <a:rPr lang="en-US" sz="1400" dirty="0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chống</a:t>
            </a:r>
            <a:r>
              <a:rPr lang="en-US" sz="1400" dirty="0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gom</a:t>
            </a:r>
            <a:r>
              <a:rPr lang="en-US" sz="1400" dirty="0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369A1"/>
                </a:solidFill>
                <a:highlight>
                  <a:srgbClr val="F0F9FF"/>
                </a:highlight>
                <a:ea typeface="+mn-lt"/>
                <a:cs typeface="+mn-lt"/>
              </a:rPr>
              <a:t>lệnh</a:t>
            </a:r>
            <a:endParaRPr lang="en-US" dirty="0" err="1"/>
          </a:p>
          <a:p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383EE3-DC60-30A4-E080-ED86EAFBD89B}"/>
              </a:ext>
            </a:extLst>
          </p:cNvPr>
          <p:cNvSpPr txBox="1"/>
          <p:nvPr/>
        </p:nvSpPr>
        <p:spPr>
          <a:xfrm>
            <a:off x="8683625" y="1492250"/>
            <a:ext cx="2952750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 b="1" dirty="0">
                <a:solidFill>
                  <a:srgbClr val="0F172A"/>
                </a:solidFill>
                <a:highlight>
                  <a:srgbClr val="F8FAFC"/>
                </a:highlight>
                <a:ea typeface="+mn-lt"/>
                <a:cs typeface="+mn-lt"/>
              </a:rPr>
              <a:t>03. Hoàn </a:t>
            </a:r>
            <a:r>
              <a:rPr lang="en-US" sz="1700" b="1" dirty="0" err="1">
                <a:solidFill>
                  <a:srgbClr val="0F172A"/>
                </a:solidFill>
                <a:highlight>
                  <a:srgbClr val="F8FAFC"/>
                </a:highlight>
                <a:ea typeface="+mn-lt"/>
                <a:cs typeface="+mn-lt"/>
              </a:rPr>
              <a:t>Cọc</a:t>
            </a:r>
            <a:r>
              <a:rPr lang="en-US" sz="1700" b="1" dirty="0">
                <a:solidFill>
                  <a:srgbClr val="0F172A"/>
                </a:solidFill>
                <a:highlight>
                  <a:srgbClr val="F8FAFC"/>
                </a:highlight>
                <a:ea typeface="+mn-lt"/>
                <a:cs typeface="+mn-lt"/>
              </a:rPr>
              <a:t> 2 </a:t>
            </a:r>
            <a:r>
              <a:rPr lang="en-US" sz="1700" b="1" dirty="0" err="1">
                <a:solidFill>
                  <a:srgbClr val="0F172A"/>
                </a:solidFill>
                <a:highlight>
                  <a:srgbClr val="F8FAFC"/>
                </a:highlight>
                <a:ea typeface="+mn-lt"/>
                <a:cs typeface="+mn-lt"/>
              </a:rPr>
              <a:t>Giờ</a:t>
            </a:r>
            <a:endParaRPr lang="en-US" dirty="0" err="1"/>
          </a:p>
          <a:p>
            <a:r>
              <a:rPr lang="en-US" sz="1400" dirty="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Tự</a:t>
            </a:r>
            <a:r>
              <a:rPr lang="en-US" sz="14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động</a:t>
            </a:r>
            <a:r>
              <a:rPr lang="en-US" sz="14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giải</a:t>
            </a:r>
            <a:r>
              <a:rPr lang="en-US" sz="14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phóng</a:t>
            </a:r>
            <a:r>
              <a:rPr lang="en-US" sz="14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tiền</a:t>
            </a:r>
            <a:r>
              <a:rPr lang="en-US" sz="14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cọc</a:t>
            </a:r>
            <a:r>
              <a:rPr lang="en-US" sz="14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cho</a:t>
            </a:r>
            <a:r>
              <a:rPr lang="en-US" sz="14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người</a:t>
            </a:r>
            <a:r>
              <a:rPr lang="en-US" sz="14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không</a:t>
            </a:r>
            <a:r>
              <a:rPr lang="en-US" sz="14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trúng</a:t>
            </a:r>
            <a:r>
              <a:rPr lang="en-US" sz="1400" dirty="0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475569"/>
                </a:solidFill>
                <a:highlight>
                  <a:srgbClr val="F8FAFC"/>
                </a:highlight>
                <a:ea typeface="+mn-lt"/>
                <a:cs typeface="+mn-lt"/>
              </a:rPr>
              <a:t>phiên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2038824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SMART-HOME</vt:lpstr>
      <vt:lpstr>PowerPoint Presentation</vt:lpstr>
      <vt:lpstr>Sàn Đấu Giá Trực Tuyến Thời Gian Thực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60</cp:revision>
  <dcterms:created xsi:type="dcterms:W3CDTF">2026-10-26T15:17:10Z</dcterms:created>
  <dcterms:modified xsi:type="dcterms:W3CDTF">2026-10-26T15:34:02Z</dcterms:modified>
</cp:coreProperties>
</file>